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Orbitron"/>
      <p:regular r:id="rId13"/>
      <p:bold r:id="rId14"/>
    </p:embeddedFont>
    <p:embeddedFont>
      <p:font typeface="Kanit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cDR09Gpbt99sUA2xJ1zGqJLO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font" Target="fonts/Orbitron-regular.fntdata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Kanit-regular.fntdata"/><Relationship Id="rId14" Type="http://schemas.openxmlformats.org/officeDocument/2006/relationships/font" Target="fonts/Orbitron-bold.fntdata"/><Relationship Id="rId17" Type="http://schemas.openxmlformats.org/officeDocument/2006/relationships/font" Target="fonts/Kanit-italic.fntdata"/><Relationship Id="rId16" Type="http://schemas.openxmlformats.org/officeDocument/2006/relationships/font" Target="fonts/Kanit-bold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Kani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48fd6d6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648fd6d6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team members. You can add photos if you want [1 minute]</a:t>
            </a:r>
            <a:endParaRPr/>
          </a:p>
        </p:txBody>
      </p:sp>
      <p:sp>
        <p:nvSpPr>
          <p:cNvPr id="56" name="Google Shape;56;g3648fd6d6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f436434c5_0_10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f436434c5_0_10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Metadaten: + Anzahl der Edits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Single Player, Echtzeit</a:t>
            </a:r>
            <a:br>
              <a:rPr lang="en-US"/>
            </a:br>
            <a:br>
              <a:rPr lang="en-US"/>
            </a:br>
            <a:r>
              <a:rPr lang="en-US"/>
              <a:t>Spielregeln - nächste Folie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(Sudden Death: solange bis Fehler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Speed Mode 60s: so viele Fragen wie möglich)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Extras: Musik, AI-Host</a:t>
            </a:r>
            <a:endParaRPr/>
          </a:p>
        </p:txBody>
      </p:sp>
      <p:sp>
        <p:nvSpPr>
          <p:cNvPr id="75" name="Google Shape;75;g3af436434c5_0_10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f436434c5_0_10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af436434c5_0_10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team members. You can add photos if you want [1 minute]</a:t>
            </a:r>
            <a:endParaRPr/>
          </a:p>
        </p:txBody>
      </p:sp>
      <p:sp>
        <p:nvSpPr>
          <p:cNvPr id="94" name="Google Shape;94;g3af436434c5_0_10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436434c5_0_10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af436434c5_0_10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team members. You can add photos if you want [1 minute]</a:t>
            </a:r>
            <a:endParaRPr/>
          </a:p>
        </p:txBody>
      </p:sp>
      <p:sp>
        <p:nvSpPr>
          <p:cNvPr id="113" name="Google Shape;113;g3af436434c5_0_10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f436434c5_0_1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f436434c5_0_1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af436434c5_0_1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f436434c5_0_1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f436434c5_0_1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af436434c5_0_1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f436434c5_0_1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af436434c5_0_1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af436434c5_0_1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g3af436434c5_0_19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3af436434c5_0_194"/>
          <p:cNvSpPr txBox="1"/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●"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○"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■"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●"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○"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■"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●"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○"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■"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g3af436434c5_0_194"/>
          <p:cNvSpPr txBox="1"/>
          <p:nvPr>
            <p:ph idx="1" type="subTitle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" name="Google Shape;15;g3af436434c5_0_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g3af436434c5_0_194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7" name="Google Shape;17;g3af436434c5_0_194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8" name="Google Shape;18;g3af436434c5_0_194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9" name="Google Shape;19;g3af436434c5_0_194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20" name="Google Shape;20;g3af436434c5_0_194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1" name="Google Shape;21;g3af436434c5_0_194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2" name="Google Shape;22;g3af436434c5_0_194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3" name="Google Shape;23;g3af436434c5_0_194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4" name="Google Shape;24;g3af436434c5_0_194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" name="Google Shape;25;g3af436434c5_0_194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g3af436434c5_0_194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7" name="Google Shape;27;g3af436434c5_0_194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8" name="Google Shape;28;g3af436434c5_0_194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fmla="val 0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9" name="Google Shape;29;g3af436434c5_0_194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fmla="val 0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0" name="Google Shape;30;g3af436434c5_0_194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fmla="val 0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1" name="Google Shape;31;g3af436434c5_0_194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fmla="val 0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9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" title="Design ohne Tit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3475" y="1133975"/>
            <a:ext cx="3377024" cy="31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 txBox="1"/>
          <p:nvPr/>
        </p:nvSpPr>
        <p:spPr>
          <a:xfrm>
            <a:off x="2602252" y="4062761"/>
            <a:ext cx="403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A86EB"/>
                </a:solidFill>
                <a:latin typeface="Arial"/>
                <a:ea typeface="Arial"/>
                <a:cs typeface="Arial"/>
                <a:sym typeface="Arial"/>
              </a:rPr>
              <a:t>Battle of Knowledge. </a:t>
            </a:r>
            <a:br>
              <a:rPr b="0" i="0" lang="en-US" sz="1400" u="none" cap="none" strike="noStrike">
                <a:solidFill>
                  <a:srgbClr val="FA86E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A86EB"/>
                </a:solidFill>
                <a:latin typeface="Arial"/>
                <a:ea typeface="Arial"/>
                <a:cs typeface="Arial"/>
                <a:sym typeface="Arial"/>
              </a:rPr>
              <a:t>May the Best Article Win.</a:t>
            </a:r>
            <a:endParaRPr b="0" i="0" sz="1400" u="none" cap="none" strike="noStrike">
              <a:solidFill>
                <a:srgbClr val="FA86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-313825" y="-134650"/>
            <a:ext cx="9826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Entwickelt von</a:t>
            </a:r>
            <a:r>
              <a:rPr lang="en-US" sz="40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 WikiWarriors</a:t>
            </a:r>
            <a:r>
              <a:rPr lang="en-US" sz="550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lang="en-US" sz="680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   </a:t>
            </a:r>
            <a:endParaRPr sz="6800">
              <a:solidFill>
                <a:srgbClr val="FFFFFF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40" name="Google Shape;40;p1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1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1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1"/>
          <p:cNvCxnSpPr/>
          <p:nvPr/>
        </p:nvCxnSpPr>
        <p:spPr>
          <a:xfrm>
            <a:off x="790375" y="4486750"/>
            <a:ext cx="366000" cy="191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1"/>
          <p:cNvCxnSpPr/>
          <p:nvPr/>
        </p:nvCxnSpPr>
        <p:spPr>
          <a:xfrm>
            <a:off x="1156425" y="4678457"/>
            <a:ext cx="6939600" cy="699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1"/>
          <p:cNvCxnSpPr/>
          <p:nvPr/>
        </p:nvCxnSpPr>
        <p:spPr>
          <a:xfrm>
            <a:off x="8130800" y="1069386"/>
            <a:ext cx="313800" cy="2442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" name="Google Shape;46;p1"/>
          <p:cNvCxnSpPr/>
          <p:nvPr/>
        </p:nvCxnSpPr>
        <p:spPr>
          <a:xfrm>
            <a:off x="8444600" y="1330633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1"/>
          <p:cNvCxnSpPr/>
          <p:nvPr/>
        </p:nvCxnSpPr>
        <p:spPr>
          <a:xfrm flipH="1" rot="10800000">
            <a:off x="8094300" y="4521789"/>
            <a:ext cx="366300" cy="2265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Google Shape;48;p1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7503077" y="1085900"/>
            <a:ext cx="808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8140700" y="386710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8018100" y="403225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8140700" y="420370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48fd6d695_0_0"/>
          <p:cNvSpPr/>
          <p:nvPr/>
        </p:nvSpPr>
        <p:spPr>
          <a:xfrm>
            <a:off x="2174454" y="219404"/>
            <a:ext cx="52545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Team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59" name="Google Shape;59;g3648fd6d695_0_0"/>
          <p:cNvSpPr/>
          <p:nvPr/>
        </p:nvSpPr>
        <p:spPr>
          <a:xfrm>
            <a:off x="1372717" y="1440383"/>
            <a:ext cx="2975400" cy="25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2100"/>
              <a:buFont typeface="Orbitron"/>
              <a:buChar char="❖"/>
            </a:pPr>
            <a:r>
              <a:rPr lang="en-US" sz="21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Micha</a:t>
            </a:r>
            <a:endParaRPr sz="2100">
              <a:solidFill>
                <a:srgbClr val="FA86EB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2100"/>
              <a:buFont typeface="Orbitron"/>
              <a:buChar char="❖"/>
            </a:pPr>
            <a:r>
              <a:rPr lang="en-US" sz="21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Mikel</a:t>
            </a:r>
            <a:endParaRPr sz="2100">
              <a:solidFill>
                <a:srgbClr val="FA86EB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2100"/>
              <a:buFont typeface="Orbitron"/>
              <a:buChar char="❖"/>
            </a:pPr>
            <a:r>
              <a:rPr lang="en-US" sz="21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Matthias</a:t>
            </a:r>
            <a:endParaRPr sz="2100">
              <a:solidFill>
                <a:srgbClr val="FA86EB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2100"/>
              <a:buFont typeface="Orbitron"/>
              <a:buChar char="❖"/>
            </a:pPr>
            <a:r>
              <a:rPr lang="en-US" sz="21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Nikita</a:t>
            </a:r>
            <a:endParaRPr sz="2100">
              <a:solidFill>
                <a:srgbClr val="FA86EB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2100"/>
              <a:buFont typeface="Orbitron"/>
              <a:buChar char="❖"/>
            </a:pPr>
            <a:r>
              <a:rPr lang="en-US" sz="21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Jessica</a:t>
            </a:r>
            <a:endParaRPr sz="2100">
              <a:solidFill>
                <a:srgbClr val="FA86EB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2100"/>
              <a:buFont typeface="Orbitron"/>
              <a:buChar char="❖"/>
            </a:pPr>
            <a:r>
              <a:rPr lang="en-US" sz="21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Dima (Mentor)</a:t>
            </a:r>
            <a:endParaRPr b="0" i="0" sz="100" u="none" cap="none" strike="noStrike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g3648fd6d695_0_0" title="Design ohne Tit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5700" y="4117500"/>
            <a:ext cx="1044500" cy="10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648fd6d695_0_0"/>
          <p:cNvSpPr txBox="1"/>
          <p:nvPr/>
        </p:nvSpPr>
        <p:spPr>
          <a:xfrm>
            <a:off x="885625" y="41545"/>
            <a:ext cx="1089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01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62" name="Google Shape;62;g3648fd6d695_0_0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g3648fd6d695_0_0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g3648fd6d695_0_0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g3648fd6d695_0_0"/>
          <p:cNvCxnSpPr/>
          <p:nvPr/>
        </p:nvCxnSpPr>
        <p:spPr>
          <a:xfrm>
            <a:off x="790375" y="4467700"/>
            <a:ext cx="397200" cy="1743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g3648fd6d695_0_0"/>
          <p:cNvCxnSpPr/>
          <p:nvPr/>
        </p:nvCxnSpPr>
        <p:spPr>
          <a:xfrm>
            <a:off x="8470200" y="1329975"/>
            <a:ext cx="36300" cy="2801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g3648fd6d695_0_0"/>
          <p:cNvCxnSpPr/>
          <p:nvPr/>
        </p:nvCxnSpPr>
        <p:spPr>
          <a:xfrm>
            <a:off x="8130667" y="1069358"/>
            <a:ext cx="342900" cy="266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g3648fd6d695_0_0"/>
          <p:cNvCxnSpPr>
            <a:endCxn id="60" idx="1"/>
          </p:cNvCxnSpPr>
          <p:nvPr/>
        </p:nvCxnSpPr>
        <p:spPr>
          <a:xfrm flipH="1" rot="10800000">
            <a:off x="1187200" y="4639750"/>
            <a:ext cx="6808500" cy="21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g3648fd6d695_0_0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70" name="Google Shape;70;g3648fd6d695_0_0"/>
          <p:cNvSpPr txBox="1"/>
          <p:nvPr/>
        </p:nvSpPr>
        <p:spPr>
          <a:xfrm>
            <a:off x="7486650" y="1066800"/>
            <a:ext cx="79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pic>
        <p:nvPicPr>
          <p:cNvPr descr="a group of people giving each other a high five (von Tenor)" id="71" name="Google Shape;71;g3648fd6d69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5343" y="2053050"/>
            <a:ext cx="3325332" cy="18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f436434c5_0_1053"/>
          <p:cNvSpPr/>
          <p:nvPr/>
        </p:nvSpPr>
        <p:spPr>
          <a:xfrm>
            <a:off x="2174454" y="219404"/>
            <a:ext cx="52545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Beschreibung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78" name="Google Shape;78;g3af436434c5_0_1053" title="Design ohne Tit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5700" y="4117500"/>
            <a:ext cx="1044500" cy="10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af436434c5_0_1053"/>
          <p:cNvSpPr txBox="1"/>
          <p:nvPr/>
        </p:nvSpPr>
        <p:spPr>
          <a:xfrm>
            <a:off x="885625" y="41545"/>
            <a:ext cx="1089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02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80" name="Google Shape;80;g3af436434c5_0_1053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g3af436434c5_0_1053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g3af436434c5_0_1053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g3af436434c5_0_1053"/>
          <p:cNvCxnSpPr/>
          <p:nvPr/>
        </p:nvCxnSpPr>
        <p:spPr>
          <a:xfrm>
            <a:off x="790375" y="4467700"/>
            <a:ext cx="397200" cy="1743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g3af436434c5_0_1053"/>
          <p:cNvCxnSpPr/>
          <p:nvPr/>
        </p:nvCxnSpPr>
        <p:spPr>
          <a:xfrm>
            <a:off x="8470200" y="1329975"/>
            <a:ext cx="36300" cy="2801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g3af436434c5_0_1053"/>
          <p:cNvCxnSpPr/>
          <p:nvPr/>
        </p:nvCxnSpPr>
        <p:spPr>
          <a:xfrm>
            <a:off x="8130667" y="1069358"/>
            <a:ext cx="342900" cy="266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g3af436434c5_0_1053"/>
          <p:cNvCxnSpPr>
            <a:endCxn id="78" idx="1"/>
          </p:cNvCxnSpPr>
          <p:nvPr/>
        </p:nvCxnSpPr>
        <p:spPr>
          <a:xfrm flipH="1" rot="10800000">
            <a:off x="1187200" y="4639750"/>
            <a:ext cx="6808500" cy="21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g3af436434c5_0_1053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88" name="Google Shape;88;g3af436434c5_0_1053"/>
          <p:cNvSpPr txBox="1"/>
          <p:nvPr/>
        </p:nvSpPr>
        <p:spPr>
          <a:xfrm>
            <a:off x="7486650" y="1066800"/>
            <a:ext cx="79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89" name="Google Shape;89;g3af436434c5_0_1053"/>
          <p:cNvSpPr txBox="1"/>
          <p:nvPr/>
        </p:nvSpPr>
        <p:spPr>
          <a:xfrm>
            <a:off x="777700" y="1273775"/>
            <a:ext cx="4538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FA86EB"/>
              </a:buClr>
              <a:buSzPts val="1000"/>
              <a:buChar char="❖"/>
            </a:pPr>
            <a:r>
              <a:rPr lang="en-US" sz="1300">
                <a:solidFill>
                  <a:srgbClr val="FA86EB"/>
                </a:solidFill>
              </a:rPr>
              <a:t>Single Player</a:t>
            </a:r>
            <a:r>
              <a:rPr lang="en-US" sz="1300">
                <a:solidFill>
                  <a:srgbClr val="7EF4F1"/>
                </a:solidFill>
              </a:rPr>
              <a:t> Quizspiel</a:t>
            </a:r>
            <a:r>
              <a:rPr lang="en-US" sz="1300">
                <a:solidFill>
                  <a:srgbClr val="FA86EB"/>
                </a:solidFill>
              </a:rPr>
              <a:t>, das </a:t>
            </a:r>
            <a:r>
              <a:rPr lang="en-US" sz="1300">
                <a:solidFill>
                  <a:srgbClr val="7EF4F1"/>
                </a:solidFill>
              </a:rPr>
              <a:t>in Echtzeit Wikipedia-Artikel</a:t>
            </a:r>
            <a:r>
              <a:rPr lang="en-US" sz="1300">
                <a:solidFill>
                  <a:srgbClr val="FA86EB"/>
                </a:solidFill>
              </a:rPr>
              <a:t> anhand ihrer Metadaten vergleicht</a:t>
            </a:r>
            <a:br>
              <a:rPr lang="en-US" sz="1300">
                <a:solidFill>
                  <a:srgbClr val="FA86EB"/>
                </a:solidFill>
              </a:rPr>
            </a:br>
            <a:endParaRPr sz="1300">
              <a:solidFill>
                <a:srgbClr val="FA86EB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000"/>
              <a:buChar char="❖"/>
            </a:pPr>
            <a:r>
              <a:rPr lang="en-US" sz="1300">
                <a:solidFill>
                  <a:srgbClr val="FA86EB"/>
                </a:solidFill>
              </a:rPr>
              <a:t>Verwendete </a:t>
            </a:r>
            <a:r>
              <a:rPr lang="en-US" sz="1300">
                <a:solidFill>
                  <a:srgbClr val="7EF4F1"/>
                </a:solidFill>
              </a:rPr>
              <a:t>Metadaten</a:t>
            </a:r>
            <a:r>
              <a:rPr lang="en-US" sz="1300">
                <a:solidFill>
                  <a:srgbClr val="FA86EB"/>
                </a:solidFill>
              </a:rPr>
              <a:t>: Anzahl der Bilder, Edits, Sprachen, </a:t>
            </a:r>
            <a:r>
              <a:rPr lang="en-US" sz="1300">
                <a:solidFill>
                  <a:srgbClr val="FA86EB"/>
                </a:solidFill>
              </a:rPr>
              <a:t>Artikelgröße (Bytes), </a:t>
            </a:r>
            <a:r>
              <a:rPr lang="en-US" sz="1300">
                <a:solidFill>
                  <a:srgbClr val="FA86EB"/>
                </a:solidFill>
              </a:rPr>
              <a:t>Erstellungsjahr, interne &amp; externe Links</a:t>
            </a:r>
            <a:br>
              <a:rPr lang="en-US" sz="1300">
                <a:solidFill>
                  <a:srgbClr val="FA86EB"/>
                </a:solidFill>
              </a:rPr>
            </a:br>
            <a:endParaRPr sz="1300">
              <a:solidFill>
                <a:srgbClr val="FA86EB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000"/>
              <a:buChar char="❖"/>
            </a:pPr>
            <a:r>
              <a:rPr lang="en-US" sz="1300">
                <a:solidFill>
                  <a:srgbClr val="7EF4F1"/>
                </a:solidFill>
              </a:rPr>
              <a:t>Zwei Spielmodi:</a:t>
            </a:r>
            <a:r>
              <a:rPr lang="en-US" sz="1300">
                <a:solidFill>
                  <a:srgbClr val="FA86EB"/>
                </a:solidFill>
              </a:rPr>
              <a:t> Sudden Death und Zeitmodus</a:t>
            </a:r>
            <a:br>
              <a:rPr lang="en-US" sz="1300">
                <a:solidFill>
                  <a:srgbClr val="FA86EB"/>
                </a:solidFill>
              </a:rPr>
            </a:br>
            <a:endParaRPr sz="1300">
              <a:solidFill>
                <a:srgbClr val="FA86EB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000"/>
              <a:buChar char="❖"/>
            </a:pPr>
            <a:r>
              <a:rPr lang="en-US" sz="1300">
                <a:solidFill>
                  <a:srgbClr val="7EF4F1"/>
                </a:solidFill>
              </a:rPr>
              <a:t>Punktzahl</a:t>
            </a:r>
            <a:r>
              <a:rPr lang="en-US" sz="1300">
                <a:solidFill>
                  <a:srgbClr val="FA86EB"/>
                </a:solidFill>
              </a:rPr>
              <a:t> basiert auf der Anzahl korrekt beantworteter Runden</a:t>
            </a:r>
            <a:br>
              <a:rPr lang="en-US" sz="1300">
                <a:solidFill>
                  <a:srgbClr val="FA86EB"/>
                </a:solidFill>
              </a:rPr>
            </a:br>
            <a:endParaRPr sz="1300">
              <a:solidFill>
                <a:srgbClr val="FA86EB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000"/>
              <a:buChar char="❖"/>
            </a:pPr>
            <a:r>
              <a:rPr lang="en-US" sz="1300">
                <a:solidFill>
                  <a:srgbClr val="7EF4F1"/>
                </a:solidFill>
              </a:rPr>
              <a:t>Highscore-Liste</a:t>
            </a:r>
            <a:r>
              <a:rPr lang="en-US" sz="1300">
                <a:solidFill>
                  <a:srgbClr val="FA86EB"/>
                </a:solidFill>
              </a:rPr>
              <a:t>: All-Time-Top-Scores inklusive Spielernamen werden angezeigt</a:t>
            </a:r>
            <a:endParaRPr sz="1300">
              <a:solidFill>
                <a:srgbClr val="FA86EB"/>
              </a:solidFill>
            </a:endParaRPr>
          </a:p>
        </p:txBody>
      </p:sp>
      <p:pic>
        <p:nvPicPr>
          <p:cNvPr id="90" name="Google Shape;90;g3af436434c5_0_1053" title="IMG_8965.JPG"/>
          <p:cNvPicPr preferRelativeResize="0"/>
          <p:nvPr/>
        </p:nvPicPr>
        <p:blipFill rotWithShape="1">
          <a:blip r:embed="rId5">
            <a:alphaModFix/>
          </a:blip>
          <a:srcRect b="0" l="20172" r="0" t="30771"/>
          <a:stretch/>
        </p:blipFill>
        <p:spPr>
          <a:xfrm>
            <a:off x="5769105" y="2420330"/>
            <a:ext cx="2640225" cy="17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436434c5_0_1075"/>
          <p:cNvSpPr/>
          <p:nvPr/>
        </p:nvSpPr>
        <p:spPr>
          <a:xfrm>
            <a:off x="2174454" y="219404"/>
            <a:ext cx="52545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Spielregeln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97" name="Google Shape;97;g3af436434c5_0_1075" title="Design ohne Tit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5700" y="4117500"/>
            <a:ext cx="1044500" cy="10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af436434c5_0_1075"/>
          <p:cNvSpPr txBox="1"/>
          <p:nvPr/>
        </p:nvSpPr>
        <p:spPr>
          <a:xfrm>
            <a:off x="885625" y="41545"/>
            <a:ext cx="1089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03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99" name="Google Shape;99;g3af436434c5_0_1075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g3af436434c5_0_1075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g3af436434c5_0_1075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g3af436434c5_0_1075"/>
          <p:cNvCxnSpPr/>
          <p:nvPr/>
        </p:nvCxnSpPr>
        <p:spPr>
          <a:xfrm>
            <a:off x="790375" y="4467700"/>
            <a:ext cx="397200" cy="1743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g3af436434c5_0_1075"/>
          <p:cNvCxnSpPr/>
          <p:nvPr/>
        </p:nvCxnSpPr>
        <p:spPr>
          <a:xfrm>
            <a:off x="8470200" y="1329975"/>
            <a:ext cx="36300" cy="2801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g3af436434c5_0_1075"/>
          <p:cNvCxnSpPr/>
          <p:nvPr/>
        </p:nvCxnSpPr>
        <p:spPr>
          <a:xfrm>
            <a:off x="8130667" y="1069358"/>
            <a:ext cx="342900" cy="266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g3af436434c5_0_1075"/>
          <p:cNvCxnSpPr>
            <a:endCxn id="97" idx="1"/>
          </p:cNvCxnSpPr>
          <p:nvPr/>
        </p:nvCxnSpPr>
        <p:spPr>
          <a:xfrm flipH="1" rot="10800000">
            <a:off x="1187200" y="4639750"/>
            <a:ext cx="6808500" cy="21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g3af436434c5_0_1075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07" name="Google Shape;107;g3af436434c5_0_1075"/>
          <p:cNvSpPr txBox="1"/>
          <p:nvPr/>
        </p:nvSpPr>
        <p:spPr>
          <a:xfrm>
            <a:off x="7486650" y="1066800"/>
            <a:ext cx="79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08" name="Google Shape;108;g3af436434c5_0_1075"/>
          <p:cNvSpPr txBox="1"/>
          <p:nvPr/>
        </p:nvSpPr>
        <p:spPr>
          <a:xfrm>
            <a:off x="824641" y="1163535"/>
            <a:ext cx="43830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A86EB"/>
              </a:buClr>
              <a:buSzPts val="1200"/>
              <a:buChar char="❖"/>
            </a:pPr>
            <a:r>
              <a:rPr lang="en-US" sz="1200">
                <a:solidFill>
                  <a:srgbClr val="7EF4F1"/>
                </a:solidFill>
              </a:rPr>
              <a:t>Zwei zufällige Wikipedia-Artikel-Titel</a:t>
            </a:r>
            <a:r>
              <a:rPr lang="en-US" sz="1200">
                <a:solidFill>
                  <a:srgbClr val="FA86EB"/>
                </a:solidFill>
              </a:rPr>
              <a:t> werden angezeigt; </a:t>
            </a:r>
            <a:r>
              <a:rPr lang="en-US" sz="1200">
                <a:solidFill>
                  <a:srgbClr val="7EF4F1"/>
                </a:solidFill>
              </a:rPr>
              <a:t>eine Metadaten-Kategorie</a:t>
            </a:r>
            <a:r>
              <a:rPr lang="en-US" sz="1200">
                <a:solidFill>
                  <a:srgbClr val="FA86EB"/>
                </a:solidFill>
              </a:rPr>
              <a:t> wird ausgewählt</a:t>
            </a:r>
            <a:br>
              <a:rPr lang="en-US" sz="1200">
                <a:solidFill>
                  <a:srgbClr val="FA86EB"/>
                </a:solidFill>
              </a:rPr>
            </a:br>
            <a:endParaRPr sz="1200">
              <a:solidFill>
                <a:srgbClr val="FA86EB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200"/>
              <a:buChar char="❖"/>
            </a:pPr>
            <a:r>
              <a:rPr lang="en-US" sz="1200">
                <a:solidFill>
                  <a:srgbClr val="7EF4F1"/>
                </a:solidFill>
              </a:rPr>
              <a:t>Deine Aufgabe:</a:t>
            </a:r>
            <a:r>
              <a:rPr lang="en-US" sz="1200">
                <a:solidFill>
                  <a:srgbClr val="FA86EB"/>
                </a:solidFill>
              </a:rPr>
              <a:t> Errate, welcher Artikel  den höheren Wert hat und kassiere Punkte</a:t>
            </a:r>
            <a:br>
              <a:rPr lang="en-US" sz="1200">
                <a:solidFill>
                  <a:srgbClr val="FA86EB"/>
                </a:solidFill>
              </a:rPr>
            </a:br>
            <a:endParaRPr sz="1200">
              <a:solidFill>
                <a:srgbClr val="FA86EB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200"/>
              <a:buChar char="❖"/>
            </a:pPr>
            <a:r>
              <a:rPr lang="en-US" sz="1200">
                <a:solidFill>
                  <a:srgbClr val="7EF4F1"/>
                </a:solidFill>
              </a:rPr>
              <a:t>Sudden Death: </a:t>
            </a:r>
            <a:r>
              <a:rPr lang="en-US" sz="1200">
                <a:solidFill>
                  <a:srgbClr val="FA86EB"/>
                </a:solidFill>
              </a:rPr>
              <a:t>Eine falsche Antwort beendet die Runde – schaffst du eine lange Serie? Je länger, desto höher dein Score</a:t>
            </a:r>
            <a:br>
              <a:rPr lang="en-US" sz="1200">
                <a:solidFill>
                  <a:srgbClr val="FA86EB"/>
                </a:solidFill>
              </a:rPr>
            </a:br>
            <a:endParaRPr sz="1200">
              <a:solidFill>
                <a:srgbClr val="FA86EB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200"/>
              <a:buChar char="❖"/>
            </a:pPr>
            <a:r>
              <a:rPr lang="en-US" sz="1200">
                <a:solidFill>
                  <a:srgbClr val="7EF4F1"/>
                </a:solidFill>
              </a:rPr>
              <a:t>Zeitmodus:</a:t>
            </a:r>
            <a:r>
              <a:rPr lang="en-US" sz="1200">
                <a:solidFill>
                  <a:srgbClr val="FA86EB"/>
                </a:solidFill>
              </a:rPr>
              <a:t> 60 Sekunden, um so viele Fragen wie möglich zu beantworten; jede richtige Antwort bringt zusätzliche Punkte</a:t>
            </a:r>
            <a:br>
              <a:rPr lang="en-US" sz="1200">
                <a:solidFill>
                  <a:srgbClr val="FA86EB"/>
                </a:solidFill>
              </a:rPr>
            </a:br>
            <a:endParaRPr sz="1200">
              <a:solidFill>
                <a:srgbClr val="FA86EB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86EB"/>
              </a:buClr>
              <a:buSzPts val="1200"/>
              <a:buChar char="❖"/>
            </a:pPr>
            <a:r>
              <a:rPr lang="en-US" sz="1200">
                <a:solidFill>
                  <a:srgbClr val="7EF4F1"/>
                </a:solidFill>
              </a:rPr>
              <a:t>Kämpfe um die Spitze:</a:t>
            </a:r>
            <a:r>
              <a:rPr lang="en-US" sz="1200">
                <a:solidFill>
                  <a:srgbClr val="FA86EB"/>
                </a:solidFill>
              </a:rPr>
              <a:t> Deine Punktzahlen werden gespeichert und in einer </a:t>
            </a:r>
            <a:r>
              <a:rPr lang="en-US" sz="1200">
                <a:solidFill>
                  <a:srgbClr val="7EF4F1"/>
                </a:solidFill>
              </a:rPr>
              <a:t>Highscore-Liste</a:t>
            </a:r>
            <a:r>
              <a:rPr lang="en-US" sz="1200">
                <a:solidFill>
                  <a:srgbClr val="FA86EB"/>
                </a:solidFill>
              </a:rPr>
              <a:t> verglichen</a:t>
            </a:r>
            <a:br>
              <a:rPr lang="en-US" sz="1200">
                <a:solidFill>
                  <a:srgbClr val="FA86EB"/>
                </a:solidFill>
              </a:rPr>
            </a:br>
            <a:endParaRPr>
              <a:solidFill>
                <a:srgbClr val="FA86EB"/>
              </a:solidFill>
            </a:endParaRPr>
          </a:p>
        </p:txBody>
      </p:sp>
      <p:pic>
        <p:nvPicPr>
          <p:cNvPr id="109" name="Google Shape;109;g3af436434c5_0_1075" title="Screenshot at Dec 10 11-04-05.png"/>
          <p:cNvPicPr preferRelativeResize="0"/>
          <p:nvPr/>
        </p:nvPicPr>
        <p:blipFill rotWithShape="1">
          <a:blip r:embed="rId5">
            <a:alphaModFix/>
          </a:blip>
          <a:srcRect b="0" l="0" r="5811" t="0"/>
          <a:stretch/>
        </p:blipFill>
        <p:spPr>
          <a:xfrm>
            <a:off x="5272315" y="1680750"/>
            <a:ext cx="3126575" cy="22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f436434c5_0_1095"/>
          <p:cNvSpPr/>
          <p:nvPr/>
        </p:nvSpPr>
        <p:spPr>
          <a:xfrm>
            <a:off x="2174450" y="219400"/>
            <a:ext cx="65958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Live Demo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116" name="Google Shape;116;g3af436434c5_0_1095" title="Design ohne Tit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5700" y="4117500"/>
            <a:ext cx="1044500" cy="10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f436434c5_0_1095"/>
          <p:cNvSpPr txBox="1"/>
          <p:nvPr/>
        </p:nvSpPr>
        <p:spPr>
          <a:xfrm>
            <a:off x="885625" y="41545"/>
            <a:ext cx="1089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04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118" name="Google Shape;118;g3af436434c5_0_1095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g3af436434c5_0_1095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g3af436434c5_0_1095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g3af436434c5_0_1095"/>
          <p:cNvCxnSpPr/>
          <p:nvPr/>
        </p:nvCxnSpPr>
        <p:spPr>
          <a:xfrm>
            <a:off x="790375" y="4467700"/>
            <a:ext cx="397200" cy="1743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g3af436434c5_0_1095"/>
          <p:cNvCxnSpPr/>
          <p:nvPr/>
        </p:nvCxnSpPr>
        <p:spPr>
          <a:xfrm>
            <a:off x="8470200" y="1329975"/>
            <a:ext cx="36300" cy="2801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g3af436434c5_0_1095"/>
          <p:cNvCxnSpPr/>
          <p:nvPr/>
        </p:nvCxnSpPr>
        <p:spPr>
          <a:xfrm>
            <a:off x="8130667" y="1069358"/>
            <a:ext cx="342900" cy="266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g3af436434c5_0_1095"/>
          <p:cNvCxnSpPr>
            <a:endCxn id="116" idx="1"/>
          </p:cNvCxnSpPr>
          <p:nvPr/>
        </p:nvCxnSpPr>
        <p:spPr>
          <a:xfrm flipH="1" rot="10800000">
            <a:off x="1187200" y="4639750"/>
            <a:ext cx="6808500" cy="21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g3af436434c5_0_1095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26" name="Google Shape;126;g3af436434c5_0_1095"/>
          <p:cNvSpPr txBox="1"/>
          <p:nvPr/>
        </p:nvSpPr>
        <p:spPr>
          <a:xfrm>
            <a:off x="7486650" y="1066800"/>
            <a:ext cx="79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27" name="Google Shape;127;g3af436434c5_0_1095"/>
          <p:cNvSpPr/>
          <p:nvPr/>
        </p:nvSpPr>
        <p:spPr>
          <a:xfrm rot="5400000">
            <a:off x="2606768" y="2430220"/>
            <a:ext cx="674225" cy="521075"/>
          </a:xfrm>
          <a:prstGeom prst="flowChartExtract">
            <a:avLst/>
          </a:prstGeom>
          <a:solidFill>
            <a:srgbClr val="FA86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A86EB"/>
              </a:highlight>
            </a:endParaRPr>
          </a:p>
        </p:txBody>
      </p:sp>
      <p:sp>
        <p:nvSpPr>
          <p:cNvPr id="128" name="Google Shape;128;g3af436434c5_0_1095"/>
          <p:cNvSpPr/>
          <p:nvPr/>
        </p:nvSpPr>
        <p:spPr>
          <a:xfrm>
            <a:off x="3663358" y="2330630"/>
            <a:ext cx="32832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Let’s Play</a:t>
            </a:r>
            <a:endParaRPr sz="4200">
              <a:solidFill>
                <a:srgbClr val="FA86EB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436434c5_0_1117"/>
          <p:cNvSpPr/>
          <p:nvPr/>
        </p:nvSpPr>
        <p:spPr>
          <a:xfrm>
            <a:off x="2174450" y="219400"/>
            <a:ext cx="65958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Gruppenreflexion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135" name="Google Shape;135;g3af436434c5_0_1117" title="Design ohne Tit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5700" y="4117500"/>
            <a:ext cx="1044500" cy="10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af436434c5_0_1117"/>
          <p:cNvSpPr txBox="1"/>
          <p:nvPr/>
        </p:nvSpPr>
        <p:spPr>
          <a:xfrm>
            <a:off x="885625" y="41545"/>
            <a:ext cx="1089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05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cxnSp>
        <p:nvCxnSpPr>
          <p:cNvPr id="137" name="Google Shape;137;g3af436434c5_0_1117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g3af436434c5_0_1117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g3af436434c5_0_1117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g3af436434c5_0_1117"/>
          <p:cNvCxnSpPr/>
          <p:nvPr/>
        </p:nvCxnSpPr>
        <p:spPr>
          <a:xfrm>
            <a:off x="790375" y="4467700"/>
            <a:ext cx="397200" cy="1743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g3af436434c5_0_1117"/>
          <p:cNvCxnSpPr/>
          <p:nvPr/>
        </p:nvCxnSpPr>
        <p:spPr>
          <a:xfrm>
            <a:off x="8470200" y="1329975"/>
            <a:ext cx="36300" cy="2801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g3af436434c5_0_1117"/>
          <p:cNvCxnSpPr/>
          <p:nvPr/>
        </p:nvCxnSpPr>
        <p:spPr>
          <a:xfrm>
            <a:off x="8130667" y="1069358"/>
            <a:ext cx="342900" cy="266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g3af436434c5_0_1117"/>
          <p:cNvCxnSpPr>
            <a:endCxn id="135" idx="1"/>
          </p:cNvCxnSpPr>
          <p:nvPr/>
        </p:nvCxnSpPr>
        <p:spPr>
          <a:xfrm flipH="1" rot="10800000">
            <a:off x="1187200" y="4639750"/>
            <a:ext cx="6808500" cy="21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g3af436434c5_0_1117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45" name="Google Shape;145;g3af436434c5_0_1117"/>
          <p:cNvSpPr txBox="1"/>
          <p:nvPr/>
        </p:nvSpPr>
        <p:spPr>
          <a:xfrm>
            <a:off x="7486650" y="1066800"/>
            <a:ext cx="79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46" name="Google Shape;146;g3af436434c5_0_1117"/>
          <p:cNvSpPr/>
          <p:nvPr/>
        </p:nvSpPr>
        <p:spPr>
          <a:xfrm>
            <a:off x="903725" y="1228975"/>
            <a:ext cx="3684000" cy="3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A86EB"/>
              </a:buClr>
              <a:buSzPts val="1200"/>
              <a:buFont typeface="Open Sans"/>
              <a:buChar char="❖"/>
            </a:pPr>
            <a:r>
              <a:rPr lang="en-US" sz="1200">
                <a:solidFill>
                  <a:srgbClr val="7EF4F1"/>
                </a:solidFill>
                <a:latin typeface="Open Sans"/>
                <a:ea typeface="Open Sans"/>
                <a:cs typeface="Open Sans"/>
                <a:sym typeface="Open Sans"/>
              </a:rPr>
              <a:t>Effiziente Zusammenarbeit </a:t>
            </a: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durch Aufgabenaufteilung nach Stärken</a:t>
            </a:r>
            <a:endParaRPr sz="1200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A86EB"/>
              </a:buClr>
              <a:buSzPts val="1200"/>
              <a:buFont typeface="Open Sans"/>
              <a:buChar char="❖"/>
            </a:pPr>
            <a:r>
              <a:rPr lang="en-US" sz="1200">
                <a:solidFill>
                  <a:srgbClr val="7EF4F1"/>
                </a:solidFill>
                <a:latin typeface="Open Sans"/>
                <a:ea typeface="Open Sans"/>
                <a:cs typeface="Open Sans"/>
                <a:sym typeface="Open Sans"/>
              </a:rPr>
              <a:t>Hauptherausforderung</a:t>
            </a: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: Integration von Live-Wikipedia-Metadaten; gelöst durch enge Kommunikation und schnelles Ausprobieren</a:t>
            </a:r>
            <a:endParaRPr sz="1200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A86EB"/>
              </a:buClr>
              <a:buSzPts val="1200"/>
              <a:buFont typeface="Open Sans"/>
              <a:buChar char="❖"/>
            </a:pP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Hätten wir </a:t>
            </a:r>
            <a:r>
              <a:rPr lang="en-US" sz="1200">
                <a:solidFill>
                  <a:srgbClr val="7EF4F1"/>
                </a:solidFill>
                <a:latin typeface="Open Sans"/>
                <a:ea typeface="Open Sans"/>
                <a:cs typeface="Open Sans"/>
                <a:sym typeface="Open Sans"/>
              </a:rPr>
              <a:t>einen Tag extra</a:t>
            </a: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, wären KI-Features, Mehrspieler-Modus, zusätzliche Meta-Daten drin gewesen</a:t>
            </a:r>
            <a:endParaRPr sz="1200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A86EB"/>
              </a:buClr>
              <a:buSzPts val="1200"/>
              <a:buFont typeface="Open Sans"/>
              <a:buChar char="❖"/>
            </a:pP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Ein </a:t>
            </a:r>
            <a:r>
              <a:rPr lang="en-US" sz="1200">
                <a:solidFill>
                  <a:srgbClr val="7EF4F1"/>
                </a:solidFill>
                <a:latin typeface="Open Sans"/>
                <a:ea typeface="Open Sans"/>
                <a:cs typeface="Open Sans"/>
                <a:sym typeface="Open Sans"/>
              </a:rPr>
              <a:t>intensiver</a:t>
            </a: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, aber richtig </a:t>
            </a:r>
            <a:r>
              <a:rPr lang="en-US" sz="1200">
                <a:solidFill>
                  <a:srgbClr val="7EF4F1"/>
                </a:solidFill>
                <a:latin typeface="Open Sans"/>
                <a:ea typeface="Open Sans"/>
                <a:cs typeface="Open Sans"/>
                <a:sym typeface="Open Sans"/>
              </a:rPr>
              <a:t>spaßiger Entwicklungsprozess</a:t>
            </a:r>
            <a:endParaRPr sz="1200">
              <a:solidFill>
                <a:srgbClr val="7EF4F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A86EB"/>
              </a:buClr>
              <a:buSzPts val="1200"/>
              <a:buFont typeface="Open Sans"/>
              <a:buChar char="❖"/>
            </a:pPr>
            <a:r>
              <a:rPr lang="en-US" sz="1200">
                <a:solidFill>
                  <a:srgbClr val="7EF4F1"/>
                </a:solidFill>
                <a:latin typeface="Open Sans"/>
                <a:ea typeface="Open Sans"/>
                <a:cs typeface="Open Sans"/>
                <a:sym typeface="Open Sans"/>
              </a:rPr>
              <a:t>Teamgeist</a:t>
            </a: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 gestärkt und </a:t>
            </a:r>
            <a:r>
              <a:rPr lang="en-US" sz="1200">
                <a:solidFill>
                  <a:srgbClr val="7EF4F1"/>
                </a:solidFill>
                <a:latin typeface="Open Sans"/>
                <a:ea typeface="Open Sans"/>
                <a:cs typeface="Open Sans"/>
                <a:sym typeface="Open Sans"/>
              </a:rPr>
              <a:t>voller Stolz</a:t>
            </a:r>
            <a:r>
              <a:rPr lang="en-US" sz="1200">
                <a:solidFill>
                  <a:srgbClr val="FA86EB"/>
                </a:solidFill>
                <a:latin typeface="Open Sans"/>
                <a:ea typeface="Open Sans"/>
                <a:cs typeface="Open Sans"/>
                <a:sym typeface="Open Sans"/>
              </a:rPr>
              <a:t> auf das fertige Spiel</a:t>
            </a:r>
            <a:endParaRPr sz="1200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86E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7" name="Google Shape;147;g3af436434c5_0_1117" title="Screenshot at Dec 10 14-06-5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1075" y="1560900"/>
            <a:ext cx="3769126" cy="23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af436434c5_0_1155" title="Design ohne Tit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3475" y="1133975"/>
            <a:ext cx="3377024" cy="31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af436434c5_0_1155"/>
          <p:cNvSpPr txBox="1"/>
          <p:nvPr/>
        </p:nvSpPr>
        <p:spPr>
          <a:xfrm>
            <a:off x="2602252" y="4062761"/>
            <a:ext cx="403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A86EB"/>
                </a:solidFill>
                <a:latin typeface="Arial"/>
                <a:ea typeface="Arial"/>
                <a:cs typeface="Arial"/>
                <a:sym typeface="Arial"/>
              </a:rPr>
              <a:t>Battle of Knowledge. </a:t>
            </a:r>
            <a:br>
              <a:rPr b="0" i="0" lang="en-US" sz="1400" u="none" cap="none" strike="noStrike">
                <a:solidFill>
                  <a:srgbClr val="FA86E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A86EB"/>
                </a:solidFill>
                <a:latin typeface="Arial"/>
                <a:ea typeface="Arial"/>
                <a:cs typeface="Arial"/>
                <a:sym typeface="Arial"/>
              </a:rPr>
              <a:t>May the Best Article Win.</a:t>
            </a:r>
            <a:endParaRPr b="0" i="0" sz="1400" u="none" cap="none" strike="noStrike">
              <a:solidFill>
                <a:srgbClr val="FA86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g3af436434c5_0_1155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g3af436434c5_0_1155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g3af436434c5_0_1155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g3af436434c5_0_1155"/>
          <p:cNvCxnSpPr/>
          <p:nvPr/>
        </p:nvCxnSpPr>
        <p:spPr>
          <a:xfrm>
            <a:off x="790375" y="4486750"/>
            <a:ext cx="366000" cy="191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g3af436434c5_0_1155"/>
          <p:cNvCxnSpPr/>
          <p:nvPr/>
        </p:nvCxnSpPr>
        <p:spPr>
          <a:xfrm>
            <a:off x="1156425" y="4678457"/>
            <a:ext cx="6939600" cy="699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g3af436434c5_0_1155"/>
          <p:cNvCxnSpPr/>
          <p:nvPr/>
        </p:nvCxnSpPr>
        <p:spPr>
          <a:xfrm>
            <a:off x="8130800" y="1069386"/>
            <a:ext cx="313800" cy="2442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g3af436434c5_0_1155"/>
          <p:cNvCxnSpPr/>
          <p:nvPr/>
        </p:nvCxnSpPr>
        <p:spPr>
          <a:xfrm>
            <a:off x="8444600" y="1330633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g3af436434c5_0_1155"/>
          <p:cNvCxnSpPr/>
          <p:nvPr/>
        </p:nvCxnSpPr>
        <p:spPr>
          <a:xfrm flipH="1" rot="10800000">
            <a:off x="8094300" y="4521789"/>
            <a:ext cx="366300" cy="2265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g3af436434c5_0_1155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64" name="Google Shape;164;g3af436434c5_0_1155"/>
          <p:cNvSpPr txBox="1"/>
          <p:nvPr/>
        </p:nvSpPr>
        <p:spPr>
          <a:xfrm>
            <a:off x="7503077" y="1085900"/>
            <a:ext cx="808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65" name="Google Shape;165;g3af436434c5_0_1155"/>
          <p:cNvSpPr/>
          <p:nvPr/>
        </p:nvSpPr>
        <p:spPr>
          <a:xfrm>
            <a:off x="8140700" y="386710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f436434c5_0_1155"/>
          <p:cNvSpPr/>
          <p:nvPr/>
        </p:nvSpPr>
        <p:spPr>
          <a:xfrm>
            <a:off x="8018100" y="403225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f436434c5_0_1155"/>
          <p:cNvSpPr/>
          <p:nvPr/>
        </p:nvSpPr>
        <p:spPr>
          <a:xfrm>
            <a:off x="8140700" y="420370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f436434c5_0_1155"/>
          <p:cNvSpPr txBox="1"/>
          <p:nvPr/>
        </p:nvSpPr>
        <p:spPr>
          <a:xfrm>
            <a:off x="885625" y="41545"/>
            <a:ext cx="1089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06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69" name="Google Shape;169;g3af436434c5_0_1155"/>
          <p:cNvSpPr/>
          <p:nvPr/>
        </p:nvSpPr>
        <p:spPr>
          <a:xfrm>
            <a:off x="2174450" y="219400"/>
            <a:ext cx="65958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7EF4F1"/>
                </a:solidFill>
                <a:latin typeface="Orbitron"/>
                <a:ea typeface="Orbitron"/>
                <a:cs typeface="Orbitron"/>
                <a:sym typeface="Orbitron"/>
              </a:rPr>
              <a:t>Fragen?</a:t>
            </a:r>
            <a:endParaRPr sz="4200">
              <a:solidFill>
                <a:srgbClr val="7EF4F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g3af436434c5_0_1178"/>
          <p:cNvCxnSpPr/>
          <p:nvPr/>
        </p:nvCxnSpPr>
        <p:spPr>
          <a:xfrm>
            <a:off x="772975" y="1278600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g3af436434c5_0_1178"/>
          <p:cNvCxnSpPr/>
          <p:nvPr/>
        </p:nvCxnSpPr>
        <p:spPr>
          <a:xfrm flipH="1" rot="10800000">
            <a:off x="772975" y="1051811"/>
            <a:ext cx="244200" cy="226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g3af436434c5_0_1178"/>
          <p:cNvCxnSpPr/>
          <p:nvPr/>
        </p:nvCxnSpPr>
        <p:spPr>
          <a:xfrm>
            <a:off x="1017075" y="1051939"/>
            <a:ext cx="7113600" cy="174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g3af436434c5_0_1178"/>
          <p:cNvCxnSpPr/>
          <p:nvPr/>
        </p:nvCxnSpPr>
        <p:spPr>
          <a:xfrm>
            <a:off x="790375" y="4486750"/>
            <a:ext cx="366000" cy="1917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g3af436434c5_0_1178"/>
          <p:cNvCxnSpPr/>
          <p:nvPr/>
        </p:nvCxnSpPr>
        <p:spPr>
          <a:xfrm>
            <a:off x="1156425" y="4678457"/>
            <a:ext cx="6939600" cy="699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g3af436434c5_0_1178"/>
          <p:cNvCxnSpPr/>
          <p:nvPr/>
        </p:nvCxnSpPr>
        <p:spPr>
          <a:xfrm>
            <a:off x="8130800" y="1069386"/>
            <a:ext cx="313800" cy="2442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g3af436434c5_0_1178"/>
          <p:cNvCxnSpPr/>
          <p:nvPr/>
        </p:nvCxnSpPr>
        <p:spPr>
          <a:xfrm>
            <a:off x="8444600" y="1330633"/>
            <a:ext cx="17400" cy="31908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g3af436434c5_0_1178"/>
          <p:cNvCxnSpPr/>
          <p:nvPr/>
        </p:nvCxnSpPr>
        <p:spPr>
          <a:xfrm flipH="1" rot="10800000">
            <a:off x="8094300" y="4521789"/>
            <a:ext cx="366300" cy="226500"/>
          </a:xfrm>
          <a:prstGeom prst="straightConnector1">
            <a:avLst/>
          </a:prstGeom>
          <a:noFill/>
          <a:ln cap="flat" cmpd="sng" w="9525">
            <a:solidFill>
              <a:srgbClr val="7EF4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g3af436434c5_0_1178"/>
          <p:cNvSpPr txBox="1"/>
          <p:nvPr/>
        </p:nvSpPr>
        <p:spPr>
          <a:xfrm>
            <a:off x="1121504" y="4643566"/>
            <a:ext cx="1325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7EF4F1"/>
                </a:solidFill>
              </a:rPr>
              <a:t>++++</a:t>
            </a:r>
            <a:endParaRPr sz="1700">
              <a:solidFill>
                <a:srgbClr val="7EF4F1"/>
              </a:solidFill>
            </a:endParaRPr>
          </a:p>
        </p:txBody>
      </p:sp>
      <p:sp>
        <p:nvSpPr>
          <p:cNvPr id="184" name="Google Shape;184;g3af436434c5_0_1178"/>
          <p:cNvSpPr txBox="1"/>
          <p:nvPr/>
        </p:nvSpPr>
        <p:spPr>
          <a:xfrm>
            <a:off x="7503077" y="1085900"/>
            <a:ext cx="808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2"/>
                </a:solidFill>
              </a:rPr>
              <a:t>++++</a:t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85" name="Google Shape;185;g3af436434c5_0_1178"/>
          <p:cNvSpPr/>
          <p:nvPr/>
        </p:nvSpPr>
        <p:spPr>
          <a:xfrm>
            <a:off x="8140700" y="386710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af436434c5_0_1178"/>
          <p:cNvSpPr/>
          <p:nvPr/>
        </p:nvSpPr>
        <p:spPr>
          <a:xfrm>
            <a:off x="8018100" y="403225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f436434c5_0_1178"/>
          <p:cNvSpPr/>
          <p:nvPr/>
        </p:nvSpPr>
        <p:spPr>
          <a:xfrm>
            <a:off x="8140700" y="4203700"/>
            <a:ext cx="95400" cy="69900"/>
          </a:xfrm>
          <a:prstGeom prst="rect">
            <a:avLst/>
          </a:prstGeom>
          <a:solidFill>
            <a:srgbClr val="7EF4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af436434c5_0_1178"/>
          <p:cNvSpPr/>
          <p:nvPr/>
        </p:nvSpPr>
        <p:spPr>
          <a:xfrm>
            <a:off x="920750" y="2308950"/>
            <a:ext cx="73908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200">
                <a:solidFill>
                  <a:srgbClr val="FA86EB"/>
                </a:solidFill>
                <a:latin typeface="Orbitron"/>
                <a:ea typeface="Orbitron"/>
                <a:cs typeface="Orbitron"/>
                <a:sym typeface="Orbitron"/>
              </a:rPr>
              <a:t>Dankeschön!</a:t>
            </a:r>
            <a:endParaRPr sz="4200">
              <a:solidFill>
                <a:srgbClr val="FA86EB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 G</dc:creator>
</cp:coreProperties>
</file>